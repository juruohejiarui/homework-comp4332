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6" r:id="rId4"/>
    <p:sldId id="267" r:id="rId5"/>
    <p:sldId id="259" r:id="rId6"/>
    <p:sldId id="261" r:id="rId7"/>
    <p:sldId id="268" r:id="rId8"/>
    <p:sldId id="262" r:id="rId9"/>
    <p:sldId id="263" r:id="rId10"/>
    <p:sldId id="264" r:id="rId11"/>
    <p:sldId id="265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50" d="100"/>
          <a:sy n="150" d="100"/>
        </p:scale>
        <p:origin x="2886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937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937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937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937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937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4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94063" y="2091689"/>
            <a:ext cx="9204325" cy="2661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45202" y="6428920"/>
            <a:ext cx="167703" cy="2140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937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mailto:tzhengad@connect.ust.hk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hyperlink" Target="https://www.statology.org/tabular-data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5945" y="1831340"/>
            <a:ext cx="9023985" cy="158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ts val="6130"/>
              </a:lnSpc>
              <a:spcBef>
                <a:spcPts val="100"/>
              </a:spcBef>
            </a:pPr>
            <a:r>
              <a:rPr sz="5400" dirty="0"/>
              <a:t>COMP</a:t>
            </a:r>
            <a:r>
              <a:rPr sz="5400" spc="-60" dirty="0"/>
              <a:t> </a:t>
            </a:r>
            <a:r>
              <a:rPr sz="5400" dirty="0"/>
              <a:t>4332</a:t>
            </a:r>
            <a:r>
              <a:rPr sz="5400" spc="-55" dirty="0"/>
              <a:t> </a:t>
            </a:r>
            <a:r>
              <a:rPr sz="5400" dirty="0"/>
              <a:t>/</a:t>
            </a:r>
            <a:r>
              <a:rPr sz="5400" spc="-55" dirty="0"/>
              <a:t> </a:t>
            </a:r>
            <a:r>
              <a:rPr sz="5400" dirty="0"/>
              <a:t>RMBI</a:t>
            </a:r>
            <a:r>
              <a:rPr sz="5400" spc="-60" dirty="0"/>
              <a:t> </a:t>
            </a:r>
            <a:r>
              <a:rPr sz="5400" spc="-20" dirty="0"/>
              <a:t>4310</a:t>
            </a:r>
            <a:endParaRPr sz="5400" dirty="0"/>
          </a:p>
          <a:p>
            <a:pPr algn="ctr">
              <a:lnSpc>
                <a:spcPts val="6130"/>
              </a:lnSpc>
            </a:pPr>
            <a:r>
              <a:rPr sz="5400" dirty="0"/>
              <a:t>Big</a:t>
            </a:r>
            <a:r>
              <a:rPr sz="5400" spc="-80" dirty="0"/>
              <a:t> </a:t>
            </a:r>
            <a:r>
              <a:rPr sz="5400" dirty="0"/>
              <a:t>Data</a:t>
            </a:r>
            <a:r>
              <a:rPr sz="5400" spc="-90" dirty="0"/>
              <a:t> </a:t>
            </a:r>
            <a:r>
              <a:rPr sz="5400" dirty="0"/>
              <a:t>Mining</a:t>
            </a:r>
            <a:r>
              <a:rPr sz="5400" spc="-80" dirty="0"/>
              <a:t> </a:t>
            </a:r>
            <a:r>
              <a:rPr sz="5400" dirty="0"/>
              <a:t>(Spring</a:t>
            </a:r>
            <a:r>
              <a:rPr sz="5400" spc="-75" dirty="0"/>
              <a:t> </a:t>
            </a:r>
            <a:r>
              <a:rPr sz="5400" spc="-10" dirty="0"/>
              <a:t>202</a:t>
            </a:r>
            <a:r>
              <a:rPr lang="en-US" sz="5400" spc="-10" dirty="0"/>
              <a:t>6</a:t>
            </a:r>
            <a:r>
              <a:rPr sz="5400" spc="-10" dirty="0"/>
              <a:t>)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2819336" y="4115054"/>
            <a:ext cx="6792659" cy="130429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lang="en-US" altLang="" sz="2400" dirty="0">
                <a:latin typeface="Calibri"/>
                <a:cs typeface="Calibri"/>
              </a:rPr>
              <a:t>TabPFN</a:t>
            </a:r>
            <a:endParaRPr sz="24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2400" spc="-50" dirty="0">
                <a:latin typeface="Calibri"/>
                <a:cs typeface="Calibri"/>
              </a:rPr>
              <a:t>TA: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Yisen Gao (</a:t>
            </a:r>
            <a:r>
              <a:rPr lang="en-US" sz="2400" dirty="0">
                <a:latin typeface="Calibri"/>
                <a:cs typeface="Calibri"/>
                <a:hlinkClick r:id="rId1"/>
              </a:rPr>
              <a:t>ygaodi@connect.ust.hk</a:t>
            </a:r>
            <a:r>
              <a:rPr lang="en-US" sz="2400" dirty="0">
                <a:latin typeface="Calibri"/>
                <a:cs typeface="Calibri"/>
              </a:rPr>
              <a:t>) </a:t>
            </a:r>
            <a:br>
              <a:rPr lang="en-US" sz="2400" dirty="0">
                <a:latin typeface="Calibri"/>
                <a:cs typeface="Calibri"/>
              </a:rPr>
            </a:b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0602" y="642162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5931"/>
            <a:ext cx="10515600" cy="1325563"/>
          </a:xfrm>
        </p:spPr>
        <p:txBody>
          <a:bodyPr/>
          <a:lstStyle/>
          <a:p>
            <a:r>
              <a:rPr lang="en-US" dirty="0"/>
              <a:t>Tabular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05012"/>
            <a:ext cx="4581953" cy="4351338"/>
          </a:xfrm>
        </p:spPr>
        <p:txBody>
          <a:bodyPr/>
          <a:lstStyle/>
          <a:p>
            <a:r>
              <a:rPr lang="en-US" altLang="zh-CN" dirty="0"/>
              <a:t>Very common in real-world applications</a:t>
            </a:r>
            <a:endParaRPr lang="en-US" altLang="zh-CN" dirty="0"/>
          </a:p>
          <a:p>
            <a:pPr lvl="1"/>
            <a:r>
              <a:rPr lang="en-US" dirty="0"/>
              <a:t>Industry</a:t>
            </a:r>
            <a:endParaRPr lang="en-US" dirty="0"/>
          </a:p>
          <a:p>
            <a:pPr lvl="1"/>
            <a:r>
              <a:rPr lang="en-US" dirty="0"/>
              <a:t>Business</a:t>
            </a:r>
            <a:endParaRPr lang="en-US" dirty="0"/>
          </a:p>
          <a:p>
            <a:pPr lvl="1"/>
            <a:r>
              <a:rPr lang="en-US" dirty="0"/>
              <a:t>Medical</a:t>
            </a:r>
            <a:endParaRPr lang="en-US" dirty="0"/>
          </a:p>
          <a:p>
            <a:pPr lvl="1"/>
            <a:r>
              <a:rPr lang="en-US" dirty="0"/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44870-C676-4BEB-87FE-400687C57DB4}" type="slidenum">
              <a:rPr lang="en-US" smtClean="0"/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5705" y="6356350"/>
            <a:ext cx="6095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1"/>
              </a:rPr>
              <a:t>https://www.statology.org/tabular-data/</a:t>
            </a:r>
            <a:endParaRPr lang="en-US" dirty="0"/>
          </a:p>
        </p:txBody>
      </p:sp>
      <p:pic>
        <p:nvPicPr>
          <p:cNvPr id="1026" name="Picture 2" descr="tabular data forma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469" y="1213482"/>
            <a:ext cx="7298826" cy="514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581150" y="7917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676910"/>
          </a:xfrm>
        </p:spPr>
        <p:txBody>
          <a:bodyPr/>
          <a:lstStyle/>
          <a:p>
            <a:r>
              <a:rPr lang="en-US" altLang="zh-CN" dirty="0"/>
              <a:t>TabPFN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3387"/>
            <a:ext cx="10515600" cy="4534549"/>
          </a:xfrm>
        </p:spPr>
        <p:txBody>
          <a:bodyPr>
            <a:normAutofit/>
          </a:bodyPr>
          <a:lstStyle/>
          <a:p>
            <a:r>
              <a:rPr lang="en-US" sz="2400" dirty="0"/>
              <a:t>In </a:t>
            </a:r>
            <a:r>
              <a:rPr lang="en-US" sz="2400" dirty="0" err="1"/>
              <a:t>TabPFN</a:t>
            </a:r>
            <a:r>
              <a:rPr lang="en-US" sz="2400" dirty="0"/>
              <a:t> v2, tokens are individual cells (a single feature value or label), not entire rows.</a:t>
            </a:r>
            <a:endParaRPr lang="en-US" sz="2400" dirty="0"/>
          </a:p>
          <a:p>
            <a:pPr lvl="1"/>
            <a:r>
              <a:rPr lang="en-GB" altLang="zh-CN" sz="2000" dirty="0"/>
              <a:t>During </a:t>
            </a:r>
            <a:r>
              <a:rPr lang="en-GB" altLang="zh-CN" sz="2000" b="1" dirty="0"/>
              <a:t>Sample Attention</a:t>
            </a:r>
            <a:r>
              <a:rPr lang="en-GB" altLang="zh-CN" sz="2000" dirty="0"/>
              <a:t>, the sequence consists of all cells </a:t>
            </a:r>
            <a:r>
              <a:rPr lang="en-GB" altLang="zh-CN" sz="2000" i="1" dirty="0"/>
              <a:t>within the same feature column</a:t>
            </a:r>
            <a:r>
              <a:rPr lang="en-GB" altLang="zh-CN" sz="2000" dirty="0"/>
              <a:t>. </a:t>
            </a:r>
            <a:endParaRPr lang="en-GB" altLang="zh-CN" sz="2000" dirty="0"/>
          </a:p>
          <a:p>
            <a:pPr lvl="1"/>
            <a:r>
              <a:rPr lang="en-GB" altLang="zh-CN" sz="2000" dirty="0"/>
              <a:t>Tokens attend only to other cells within the same column. </a:t>
            </a:r>
            <a:r>
              <a:rPr lang="en-US" sz="2000" b="1" dirty="0"/>
              <a:t>The Train Samples: </a:t>
            </a:r>
            <a:r>
              <a:rPr lang="en-GB" altLang="zh-CN" sz="2000" dirty="0"/>
              <a:t>Features and labels are encoded as separate, independent cell tokens</a:t>
            </a:r>
            <a:r>
              <a:rPr lang="en-US" altLang="zh-CN" sz="2000" dirty="0"/>
              <a:t>.</a:t>
            </a:r>
            <a:endParaRPr lang="en-GB" altLang="zh-CN" sz="2000" dirty="0"/>
          </a:p>
          <a:p>
            <a:pPr lvl="1"/>
            <a:r>
              <a:rPr lang="en-GB" altLang="zh-CN" sz="2000" dirty="0"/>
              <a:t>This allows a test cell to find training cells with similar values, essentially performing a sophisticated, learned 1D k-Nearest Neighbors or Kernel Regression per feature.</a:t>
            </a:r>
            <a:endParaRPr lang="en-GB" altLang="zh-CN" sz="2000" dirty="0"/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44870-C676-4BEB-87FE-400687C57DB4}" type="slidenum">
              <a:rPr lang="en-US" smtClean="0"/>
            </a:fld>
            <a:endParaRPr lang="en-US" dirty="0"/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320" y="3947795"/>
            <a:ext cx="11343640" cy="29102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880745" y="609600"/>
            <a:ext cx="12155805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28060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Tabular Regression/Classfication</a:t>
            </a:r>
            <a:endParaRPr lang="en-US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30655" y="1793493"/>
            <a:ext cx="10450195" cy="8966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69900" marR="5080" indent="-4578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469900" algn="l"/>
              </a:tabLst>
            </a:pPr>
            <a:r>
              <a:rPr lang="en-US" altLang="" sz="2800" dirty="0">
                <a:latin typeface="Calibri"/>
                <a:cs typeface="Calibri"/>
              </a:rPr>
              <a:t>Regression</a:t>
            </a:r>
            <a:r>
              <a:rPr lang="en-US" altLang="" sz="2800" spc="-55" dirty="0">
                <a:latin typeface="Calibri"/>
                <a:cs typeface="Calibri"/>
              </a:rPr>
              <a:t>: </a:t>
            </a:r>
            <a:r>
              <a:rPr lang="en-US" altLang="zh-CN" sz="2800" spc="-55" dirty="0">
                <a:latin typeface="Calibri"/>
                <a:cs typeface="Calibri"/>
              </a:rPr>
              <a:t>Predict the value; evaluate with RMSE.</a:t>
            </a:r>
            <a:endParaRPr lang="en-US" altLang="zh-CN" sz="2800" spc="-55" dirty="0">
              <a:latin typeface="Calibri"/>
              <a:cs typeface="Calibri"/>
            </a:endParaRPr>
          </a:p>
          <a:p>
            <a:pPr marL="469900" marR="5080" indent="-4578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469900" algn="l"/>
              </a:tabLst>
            </a:pPr>
            <a:r>
              <a:rPr lang="en-US" altLang="" sz="2800" spc="-55" dirty="0">
                <a:latin typeface="Calibri"/>
                <a:cs typeface="Calibri"/>
              </a:rPr>
              <a:t>Classfication: </a:t>
            </a:r>
            <a:r>
              <a:rPr lang="en-US" altLang="zh-CN" sz="2800" dirty="0">
                <a:latin typeface="Calibri"/>
                <a:cs typeface="Calibri"/>
              </a:rPr>
              <a:t>Predict the class; evaluate with Accuracy.</a:t>
            </a:r>
            <a:endParaRPr lang="en-US" altLang="zh-CN"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19400" y="3007810"/>
            <a:ext cx="6294833" cy="32183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170602" y="6428920"/>
            <a:ext cx="1028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898989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17600" y="3192907"/>
            <a:ext cx="10803890" cy="52197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altLang="" sz="2800" dirty="0">
                <a:latin typeface="Calibri"/>
                <a:cs typeface="Calibri"/>
              </a:rPr>
              <a:t>Each one have train.csv, test.csv and result.csv </a:t>
            </a:r>
            <a:endParaRPr lang="en-US" altLang="" sz="2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Dataset</a:t>
            </a:r>
            <a:endParaRPr spc="-20" dirty="0"/>
          </a:p>
        </p:txBody>
      </p:sp>
      <p:sp>
        <p:nvSpPr>
          <p:cNvPr id="5" name="object 2"/>
          <p:cNvSpPr txBox="1"/>
          <p:nvPr/>
        </p:nvSpPr>
        <p:spPr>
          <a:xfrm>
            <a:off x="990600" y="1600327"/>
            <a:ext cx="10803890" cy="95313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p>
            <a:pPr marL="469900" indent="-457200">
              <a:lnSpc>
                <a:spcPct val="100000"/>
              </a:lnSpc>
              <a:spcBef>
                <a:spcPts val="720"/>
              </a:spcBef>
              <a:buFont typeface="Wingdings" panose="05000000000000000000" charset="0"/>
              <a:buChar char=""/>
              <a:tabLst>
                <a:tab pos="469265" algn="l"/>
              </a:tabLst>
            </a:pPr>
            <a:r>
              <a:rPr lang="en-US" altLang="en-US" sz="2800" dirty="0">
                <a:latin typeface="Calibri"/>
                <a:cs typeface="Calibri"/>
              </a:rPr>
              <a:t>Ten tabular data with 5 for regression task and 5 for classfication task.</a:t>
            </a:r>
            <a:endParaRPr lang="en-US" altLang="en-US" sz="2800" dirty="0">
              <a:latin typeface="Calibri"/>
              <a:cs typeface="Calibri"/>
            </a:endParaRPr>
          </a:p>
        </p:txBody>
      </p:sp>
      <p:sp>
        <p:nvSpPr>
          <p:cNvPr id="6" name="object 2"/>
          <p:cNvSpPr txBox="1"/>
          <p:nvPr/>
        </p:nvSpPr>
        <p:spPr>
          <a:xfrm>
            <a:off x="1066800" y="4038727"/>
            <a:ext cx="10803890" cy="52197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p>
            <a:pPr marL="469265" indent="-4565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altLang="zh-CN" sz="2800" b="1" dirty="0">
                <a:latin typeface="Calibri"/>
                <a:cs typeface="Calibri"/>
              </a:rPr>
              <a:t>The last column</a:t>
            </a:r>
            <a:r>
              <a:rPr lang="en-US" altLang="zh-CN" sz="2800" dirty="0">
                <a:latin typeface="Calibri"/>
                <a:cs typeface="Calibri"/>
              </a:rPr>
              <a:t> is your target prediction</a:t>
            </a:r>
            <a:r>
              <a:rPr lang="en-US" altLang="en-US" sz="2800" dirty="0">
                <a:latin typeface="Calibri"/>
                <a:cs typeface="Calibri"/>
              </a:rPr>
              <a:t>  </a:t>
            </a:r>
            <a:endParaRPr lang="en-US" altLang="en-US" sz="2800" dirty="0">
              <a:latin typeface="Calibri"/>
              <a:cs typeface="Calibri"/>
            </a:endParaRPr>
          </a:p>
        </p:txBody>
      </p:sp>
      <p:sp>
        <p:nvSpPr>
          <p:cNvPr id="7" name="object 2"/>
          <p:cNvSpPr txBox="1"/>
          <p:nvPr/>
        </p:nvSpPr>
        <p:spPr>
          <a:xfrm>
            <a:off x="1066800" y="4964557"/>
            <a:ext cx="10803890" cy="52197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p>
            <a:pPr marL="469265" indent="-4565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altLang="en-US" sz="2800" dirty="0">
                <a:latin typeface="Calibri"/>
                <a:cs typeface="Calibri"/>
              </a:rPr>
              <a:t>Y</a:t>
            </a:r>
            <a:r>
              <a:rPr lang="en-US" altLang="en-US" sz="2800" dirty="0">
                <a:latin typeface="Calibri"/>
                <a:cs typeface="Calibri"/>
              </a:rPr>
              <a:t>ou can see the detailed data in the ‘data/reg’ and ‘data/cls’ file </a:t>
            </a:r>
            <a:endParaRPr lang="en-US" altLang="en-US"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170602" y="6428920"/>
            <a:ext cx="1028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898989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43000" y="2895727"/>
            <a:ext cx="10803890" cy="52197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altLang="en-US" sz="2800" dirty="0">
                <a:latin typeface="Calibri"/>
                <a:cs typeface="Calibri"/>
              </a:rPr>
              <a:t>Note that you do not need to train the model</a:t>
            </a:r>
            <a:endParaRPr lang="en-US" altLang="en-US" sz="2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35812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0" dirty="0"/>
              <a:t>Method</a:t>
            </a:r>
            <a:endParaRPr lang="en-US" spc="-20" dirty="0"/>
          </a:p>
        </p:txBody>
      </p:sp>
      <p:sp>
        <p:nvSpPr>
          <p:cNvPr id="5" name="object 2"/>
          <p:cNvSpPr txBox="1"/>
          <p:nvPr/>
        </p:nvSpPr>
        <p:spPr>
          <a:xfrm>
            <a:off x="990600" y="1600327"/>
            <a:ext cx="10803890" cy="52197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p>
            <a:pPr marL="469900" indent="-457200">
              <a:lnSpc>
                <a:spcPct val="100000"/>
              </a:lnSpc>
              <a:spcBef>
                <a:spcPts val="720"/>
              </a:spcBef>
              <a:buFont typeface="Wingdings" panose="05000000000000000000" charset="0"/>
              <a:buChar char=""/>
              <a:tabLst>
                <a:tab pos="469265" algn="l"/>
              </a:tabLst>
            </a:pPr>
            <a:r>
              <a:rPr lang="en-US" altLang="en-US" sz="2800" dirty="0">
                <a:latin typeface="Calibri"/>
                <a:cs typeface="Calibri"/>
              </a:rPr>
              <a:t>You can use tabpfn or its </a:t>
            </a:r>
            <a:r>
              <a:rPr lang="en-US" altLang="zh-CN" sz="2800" dirty="0">
                <a:latin typeface="Calibri"/>
                <a:cs typeface="Calibri"/>
              </a:rPr>
              <a:t>variants </a:t>
            </a:r>
            <a:r>
              <a:rPr lang="en-US" altLang="zh-CN" sz="2800" dirty="0">
                <a:latin typeface="Calibri"/>
                <a:cs typeface="Calibri"/>
              </a:rPr>
              <a:t>like Tarte, Limix.</a:t>
            </a:r>
            <a:endParaRPr lang="en-US" altLang="zh-CN" sz="2800" dirty="0">
              <a:latin typeface="Calibri"/>
              <a:cs typeface="Calibri"/>
            </a:endParaRPr>
          </a:p>
        </p:txBody>
      </p:sp>
      <p:sp>
        <p:nvSpPr>
          <p:cNvPr id="8" name="object 2"/>
          <p:cNvSpPr txBox="1"/>
          <p:nvPr/>
        </p:nvSpPr>
        <p:spPr>
          <a:xfrm>
            <a:off x="1066800" y="4038727"/>
            <a:ext cx="10803890" cy="95313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p>
            <a:pPr marL="469265" indent="-4565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altLang="en-US" sz="2800" dirty="0">
                <a:latin typeface="Calibri"/>
                <a:cs typeface="Calibri"/>
              </a:rPr>
              <a:t>Note that t</a:t>
            </a:r>
            <a:r>
              <a:rPr lang="en-US" altLang="zh-CN" sz="2800" dirty="0">
                <a:latin typeface="Calibri"/>
                <a:cs typeface="Calibri"/>
              </a:rPr>
              <a:t>here may be a limit on the maximum number of lines allowed in the context.</a:t>
            </a:r>
            <a:endParaRPr lang="en-US" altLang="zh-CN"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171935" y="6465214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898989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16940" y="1784350"/>
            <a:ext cx="8883650" cy="505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altLang="" sz="3200" b="1" spc="-25" dirty="0">
                <a:latin typeface="Calibri"/>
                <a:cs typeface="Calibri"/>
              </a:rPr>
              <a:t>RMSE</a:t>
            </a:r>
            <a:r>
              <a:rPr lang="en-US" altLang="" sz="3200" spc="-25" dirty="0">
                <a:latin typeface="Calibri"/>
                <a:cs typeface="Calibri"/>
              </a:rPr>
              <a:t> for regression dataset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test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data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Evaluation</a:t>
            </a:r>
            <a:endParaRPr spc="-20" dirty="0"/>
          </a:p>
        </p:txBody>
      </p:sp>
      <p:sp>
        <p:nvSpPr>
          <p:cNvPr id="6" name="object 2"/>
          <p:cNvSpPr txBox="1"/>
          <p:nvPr/>
        </p:nvSpPr>
        <p:spPr>
          <a:xfrm>
            <a:off x="908050" y="2895600"/>
            <a:ext cx="8883650" cy="505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altLang="en-US" sz="3200" b="1" spc="-25" dirty="0">
                <a:latin typeface="Calibri"/>
                <a:cs typeface="Calibri"/>
              </a:rPr>
              <a:t>Accuracy</a:t>
            </a:r>
            <a:r>
              <a:rPr lang="en-US" altLang="en-US" sz="3200" spc="-25" dirty="0">
                <a:latin typeface="Calibri"/>
                <a:cs typeface="Calibri"/>
              </a:rPr>
              <a:t> for </a:t>
            </a:r>
            <a:r>
              <a:rPr lang="en-US" altLang="en-US" sz="3200" spc="-25" dirty="0">
                <a:latin typeface="Calibri"/>
                <a:cs typeface="Calibri"/>
              </a:rPr>
              <a:t>classfication dataset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test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data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7" name="object 2"/>
          <p:cNvSpPr txBox="1"/>
          <p:nvPr/>
        </p:nvSpPr>
        <p:spPr>
          <a:xfrm>
            <a:off x="908050" y="4006850"/>
            <a:ext cx="11330940" cy="505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altLang="" sz="3200" b="0" dirty="0">
                <a:latin typeface="Calibri"/>
                <a:cs typeface="Calibri"/>
              </a:rPr>
              <a:t>You should generate the ‘predict.csv’ for the target column </a:t>
            </a:r>
            <a:endParaRPr lang="en-US" altLang="" sz="3200" b="0" dirty="0">
              <a:latin typeface="Calibri"/>
              <a:cs typeface="Calibri"/>
            </a:endParaRPr>
          </a:p>
        </p:txBody>
      </p:sp>
      <p:sp>
        <p:nvSpPr>
          <p:cNvPr id="8" name="object 2"/>
          <p:cNvSpPr txBox="1"/>
          <p:nvPr/>
        </p:nvSpPr>
        <p:spPr>
          <a:xfrm>
            <a:off x="908050" y="5029200"/>
            <a:ext cx="11330940" cy="505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altLang="en-US" sz="3200" b="0" dirty="0">
                <a:latin typeface="Calibri"/>
                <a:cs typeface="Calibri"/>
              </a:rPr>
              <a:t>Use the ‘evaluate.py’ </a:t>
            </a:r>
            <a:r>
              <a:rPr lang="en-US" altLang="en-US" sz="3200" b="0" dirty="0">
                <a:latin typeface="Calibri"/>
                <a:cs typeface="Calibri"/>
              </a:rPr>
              <a:t>to get your performance.</a:t>
            </a:r>
            <a:endParaRPr lang="en-US" altLang="en-US" sz="3200" b="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50" dirty="0"/>
              <a:t>3</a:t>
            </a:r>
            <a:endParaRPr spc="-50" dirty="0"/>
          </a:p>
        </p:txBody>
      </p:sp>
      <p:sp>
        <p:nvSpPr>
          <p:cNvPr id="2" name="object 2"/>
          <p:cNvSpPr txBox="1"/>
          <p:nvPr/>
        </p:nvSpPr>
        <p:spPr>
          <a:xfrm>
            <a:off x="916939" y="1752345"/>
            <a:ext cx="10513061" cy="414020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0030" indent="-22733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39395" algn="l"/>
              </a:tabLst>
            </a:pPr>
            <a:r>
              <a:rPr sz="2400" dirty="0">
                <a:latin typeface="Calibri"/>
                <a:cs typeface="Calibri"/>
              </a:rPr>
              <a:t>Report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(1~2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pages)</a:t>
            </a:r>
            <a:r>
              <a:rPr lang="en-US" sz="2400" spc="-10" dirty="0">
                <a:latin typeface="Calibri"/>
                <a:cs typeface="Calibri"/>
              </a:rPr>
              <a:t>, including the motivation of your model choise, the choise of the context (if there are too many lines), and the comparison of model performances.</a:t>
            </a:r>
            <a:endParaRPr lang="en-US" sz="2400" spc="-10" dirty="0">
              <a:latin typeface="Calibri"/>
              <a:cs typeface="Calibri"/>
            </a:endParaRPr>
          </a:p>
          <a:p>
            <a:pPr marL="240030" indent="-22733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39395" algn="l"/>
              </a:tabLst>
            </a:pPr>
            <a:r>
              <a:rPr sz="2400" dirty="0">
                <a:latin typeface="Calibri"/>
                <a:cs typeface="Calibri"/>
              </a:rPr>
              <a:t>Code</a:t>
            </a:r>
            <a:r>
              <a:rPr sz="2400" spc="-60" dirty="0">
                <a:latin typeface="Calibri"/>
                <a:cs typeface="Calibri"/>
              </a:rPr>
              <a:t> </a:t>
            </a:r>
            <a:endParaRPr sz="2400" spc="-60" dirty="0">
              <a:latin typeface="Calibri"/>
              <a:cs typeface="Calibri"/>
            </a:endParaRPr>
          </a:p>
          <a:p>
            <a:pPr marL="240030" indent="-22733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39395" algn="l"/>
              </a:tabLst>
            </a:pPr>
            <a:r>
              <a:rPr lang="en-US" altLang="" sz="2400" spc="-60" dirty="0">
                <a:latin typeface="Calibri"/>
                <a:cs typeface="Calibri"/>
              </a:rPr>
              <a:t>predict.</a:t>
            </a:r>
            <a:r>
              <a:rPr lang="en-US" altLang="" sz="2400" spc="-60" dirty="0">
                <a:latin typeface="Calibri"/>
                <a:cs typeface="Calibri"/>
              </a:rPr>
              <a:t>csv</a:t>
            </a:r>
            <a:endParaRPr lang="en-US" altLang="" sz="2400" spc="-60" dirty="0">
              <a:latin typeface="Calibri"/>
              <a:cs typeface="Calibri"/>
            </a:endParaRPr>
          </a:p>
          <a:p>
            <a:pPr marL="240030" indent="-22733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39395" algn="l"/>
              </a:tabLst>
            </a:pP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DDL:</a:t>
            </a:r>
            <a:r>
              <a:rPr sz="24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April</a:t>
            </a:r>
            <a:r>
              <a:rPr sz="2400" b="1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400" b="1" spc="-30" dirty="0">
                <a:solidFill>
                  <a:schemeClr val="tx1"/>
                </a:solidFill>
                <a:latin typeface="Calibri"/>
                <a:cs typeface="Calibri"/>
              </a:rPr>
              <a:t>26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chemeClr val="tx1"/>
                </a:solidFill>
                <a:latin typeface="Calibri"/>
                <a:cs typeface="Calibri"/>
              </a:rPr>
              <a:t>202</a:t>
            </a:r>
            <a:r>
              <a:rPr lang="en-US" sz="2400" b="1" spc="-20" dirty="0">
                <a:solidFill>
                  <a:schemeClr val="tx1"/>
                </a:solidFill>
                <a:latin typeface="Calibri"/>
                <a:cs typeface="Calibri"/>
              </a:rPr>
              <a:t>6</a:t>
            </a:r>
            <a:endParaRPr sz="2400" b="1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240030" marR="111125" indent="-227330">
              <a:lnSpc>
                <a:spcPts val="262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Submission: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Each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team</a:t>
            </a:r>
            <a:r>
              <a:rPr sz="2400" b="1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leader</a:t>
            </a:r>
            <a:r>
              <a:rPr sz="2400" b="1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required</a:t>
            </a:r>
            <a:r>
              <a:rPr sz="24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submit</a:t>
            </a:r>
            <a:r>
              <a:rPr sz="24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chemeClr val="tx1"/>
                </a:solidFill>
                <a:latin typeface="Calibri"/>
                <a:cs typeface="Calibri"/>
              </a:rPr>
              <a:t>group</a:t>
            </a:r>
            <a:r>
              <a:rPr lang="en-US" altLang="" sz="2400" b="1" spc="-10" dirty="0">
                <a:solidFill>
                  <a:schemeClr val="tx1"/>
                </a:solidFill>
                <a:latin typeface="Calibri"/>
                <a:cs typeface="Calibri"/>
              </a:rPr>
              <a:t>No</a:t>
            </a:r>
            <a:r>
              <a:rPr sz="2400" b="1" spc="-10" dirty="0">
                <a:solidFill>
                  <a:schemeClr val="tx1"/>
                </a:solidFill>
                <a:latin typeface="Calibri"/>
                <a:cs typeface="Calibri"/>
              </a:rPr>
              <a:t>.zip</a:t>
            </a:r>
            <a:r>
              <a:rPr sz="24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file</a:t>
            </a:r>
            <a:r>
              <a:rPr sz="24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chemeClr val="tx1"/>
                </a:solidFill>
                <a:latin typeface="Calibri"/>
                <a:cs typeface="Calibri"/>
              </a:rPr>
              <a:t>that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contains</a:t>
            </a:r>
            <a:r>
              <a:rPr sz="24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report,</a:t>
            </a:r>
            <a:r>
              <a:rPr lang="en-US" sz="2400" dirty="0">
                <a:solidFill>
                  <a:schemeClr val="tx1"/>
                </a:solidFill>
                <a:latin typeface="Calibri"/>
                <a:cs typeface="Calibri"/>
              </a:rPr>
              <a:t> results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your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chemeClr val="tx1"/>
                </a:solidFill>
                <a:latin typeface="Calibri"/>
                <a:cs typeface="Calibri"/>
              </a:rPr>
              <a:t>team’s</a:t>
            </a:r>
            <a:r>
              <a:rPr sz="24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code</a:t>
            </a:r>
            <a:r>
              <a:rPr sz="24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on</a:t>
            </a:r>
            <a:r>
              <a:rPr sz="24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canvas.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240030" marR="5080" indent="-227330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We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will</a:t>
            </a:r>
            <a:r>
              <a:rPr sz="24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check</a:t>
            </a:r>
            <a:r>
              <a:rPr sz="24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your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report</a:t>
            </a:r>
            <a:r>
              <a:rPr sz="24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with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your</a:t>
            </a:r>
            <a:r>
              <a:rPr sz="24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code</a:t>
            </a:r>
            <a:r>
              <a:rPr sz="24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altLang="" sz="2400" dirty="0">
                <a:solidFill>
                  <a:schemeClr val="tx1"/>
                </a:solidFill>
                <a:latin typeface="Calibri"/>
                <a:cs typeface="Calibri"/>
              </a:rPr>
              <a:t>Accuracy/RMSE</a:t>
            </a:r>
            <a:r>
              <a:rPr sz="24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scores.</a:t>
            </a:r>
            <a:r>
              <a:rPr sz="24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45" dirty="0">
                <a:solidFill>
                  <a:schemeClr val="tx1"/>
                </a:solidFill>
                <a:latin typeface="Calibri"/>
                <a:cs typeface="Calibri"/>
              </a:rPr>
              <a:t>You</a:t>
            </a:r>
            <a:r>
              <a:rPr sz="24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will</a:t>
            </a:r>
            <a:r>
              <a:rPr sz="24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be</a:t>
            </a:r>
            <a:r>
              <a:rPr sz="24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graded</a:t>
            </a:r>
            <a:r>
              <a:rPr lang="en-US" altLang="" sz="2400" spc="-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based</a:t>
            </a:r>
            <a:r>
              <a:rPr sz="24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on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your</a:t>
            </a:r>
            <a:r>
              <a:rPr sz="24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testing</a:t>
            </a:r>
            <a:r>
              <a:rPr sz="24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set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performance</a:t>
            </a:r>
            <a:r>
              <a:rPr sz="24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your</a:t>
            </a:r>
            <a:r>
              <a:rPr sz="24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report.</a:t>
            </a:r>
            <a:endParaRPr sz="2400" spc="-1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Submission</a:t>
            </a:r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50" dirty="0"/>
              <a:t>4</a:t>
            </a:r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Grading</a:t>
            </a:r>
            <a:r>
              <a:rPr spc="-160" dirty="0"/>
              <a:t> </a:t>
            </a:r>
            <a:r>
              <a:rPr spc="-20" dirty="0"/>
              <a:t>Rule</a:t>
            </a:r>
            <a:endParaRPr spc="-20" dirty="0"/>
          </a:p>
        </p:txBody>
      </p:sp>
      <p:sp>
        <p:nvSpPr>
          <p:cNvPr id="5" name="object 2"/>
          <p:cNvSpPr txBox="1"/>
          <p:nvPr/>
        </p:nvSpPr>
        <p:spPr>
          <a:xfrm>
            <a:off x="762000" y="1524000"/>
            <a:ext cx="10517505" cy="751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altLang="zh-CN" sz="2400" dirty="0">
                <a:latin typeface="Calibri"/>
                <a:cs typeface="Calibri"/>
              </a:rPr>
              <a:t>The baseline for each dataset is listed below. For each dataset you outperform, you will earn 10% of the total score.</a:t>
            </a:r>
            <a:endParaRPr lang="en-US" altLang="zh-CN" sz="2400" dirty="0">
              <a:latin typeface="Calibri"/>
              <a:cs typeface="Calibri"/>
            </a:endParaRPr>
          </a:p>
        </p:txBody>
      </p:sp>
      <p:sp>
        <p:nvSpPr>
          <p:cNvPr id="6" name="object 2"/>
          <p:cNvSpPr txBox="1"/>
          <p:nvPr/>
        </p:nvSpPr>
        <p:spPr>
          <a:xfrm>
            <a:off x="762000" y="2667000"/>
            <a:ext cx="10517505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altLang="zh-CN" sz="2400" dirty="0">
                <a:latin typeface="Calibri"/>
                <a:cs typeface="Calibri"/>
              </a:rPr>
              <a:t>We will also adjust your final grade based on your report.</a:t>
            </a:r>
            <a:endParaRPr lang="en-US" altLang="zh-CN" sz="2400" dirty="0">
              <a:latin typeface="Calibri"/>
              <a:cs typeface="Calibri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914400" y="3797300"/>
          <a:ext cx="3053080" cy="1972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6540"/>
                <a:gridCol w="1526540"/>
              </a:tblGrid>
              <a:tr h="36449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spc="120">
                          <a:latin typeface="微软雅黑" charset="0"/>
                          <a:ea typeface="微软雅黑" charset="0"/>
                        </a:rPr>
                        <a:t>dataset</a:t>
                      </a:r>
                      <a:endParaRPr lang="en-US" altLang="zh-CN" sz="16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spc="120">
                          <a:latin typeface="微软雅黑" charset="0"/>
                          <a:ea typeface="微软雅黑" charset="0"/>
                        </a:rPr>
                        <a:t>accuracy</a:t>
                      </a:r>
                      <a:endParaRPr lang="en-US" altLang="zh-CN" sz="16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</a:tr>
              <a:tr h="3219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1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0.86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</a:tr>
              <a:tr h="3219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0.70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</a:tr>
              <a:tr h="3213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0.64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</a:tr>
              <a:tr h="3213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4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0.68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</a:tr>
              <a:tr h="3219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5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0.70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</a:tr>
            </a:tbl>
          </a:graphicData>
        </a:graphic>
      </p:graphicFrame>
      <p:sp>
        <p:nvSpPr>
          <p:cNvPr id="8" name="object 2"/>
          <p:cNvSpPr txBox="1"/>
          <p:nvPr/>
        </p:nvSpPr>
        <p:spPr>
          <a:xfrm>
            <a:off x="857250" y="3429000"/>
            <a:ext cx="10517505" cy="167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p>
            <a:pPr marL="12700" indent="0">
              <a:lnSpc>
                <a:spcPct val="100000"/>
              </a:lnSpc>
              <a:spcBef>
                <a:spcPts val="105"/>
              </a:spcBef>
              <a:buFont typeface="Arial MT"/>
              <a:buNone/>
              <a:tabLst>
                <a:tab pos="241300" algn="l"/>
              </a:tabLst>
            </a:pPr>
            <a:r>
              <a:rPr lang="en-US" altLang="zh-CN" sz="1000" dirty="0">
                <a:latin typeface="Calibri"/>
                <a:cs typeface="Calibri"/>
              </a:rPr>
              <a:t>Table 1. Baseline Performance on Classification Dataset</a:t>
            </a:r>
            <a:endParaRPr lang="en-US" altLang="zh-CN" sz="1000" dirty="0">
              <a:latin typeface="Calibri"/>
              <a:cs typeface="Calibri"/>
            </a:endParaRPr>
          </a:p>
        </p:txBody>
      </p:sp>
      <p:sp>
        <p:nvSpPr>
          <p:cNvPr id="10" name="object 2"/>
          <p:cNvSpPr txBox="1"/>
          <p:nvPr/>
        </p:nvSpPr>
        <p:spPr>
          <a:xfrm>
            <a:off x="6400800" y="3427730"/>
            <a:ext cx="10517505" cy="167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p>
            <a:pPr marL="12700" indent="0">
              <a:lnSpc>
                <a:spcPct val="100000"/>
              </a:lnSpc>
              <a:spcBef>
                <a:spcPts val="105"/>
              </a:spcBef>
              <a:buFont typeface="Arial MT"/>
              <a:buNone/>
              <a:tabLst>
                <a:tab pos="241300" algn="l"/>
              </a:tabLst>
            </a:pPr>
            <a:r>
              <a:rPr lang="en-US" altLang="zh-CN" sz="1000" dirty="0">
                <a:latin typeface="Calibri"/>
                <a:cs typeface="Calibri"/>
              </a:rPr>
              <a:t>Table 2. Baseline Performance on Regression Dataset</a:t>
            </a:r>
            <a:endParaRPr lang="en-US" altLang="zh-CN" sz="1000" dirty="0">
              <a:latin typeface="Calibri"/>
              <a:cs typeface="Calibri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2"/>
            </p:custDataLst>
          </p:nvPr>
        </p:nvGraphicFramePr>
        <p:xfrm>
          <a:off x="6400800" y="3733800"/>
          <a:ext cx="3053080" cy="1972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6540"/>
                <a:gridCol w="1526540"/>
              </a:tblGrid>
              <a:tr h="36449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spc="120">
                          <a:latin typeface="微软雅黑" charset="0"/>
                          <a:ea typeface="微软雅黑" charset="0"/>
                        </a:rPr>
                        <a:t>dataset</a:t>
                      </a:r>
                      <a:endParaRPr lang="en-US" altLang="zh-CN" sz="16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spc="120">
                          <a:latin typeface="微软雅黑" charset="0"/>
                          <a:ea typeface="微软雅黑" charset="0"/>
                        </a:rPr>
                        <a:t>rmse</a:t>
                      </a:r>
                      <a:endParaRPr lang="en-US" altLang="zh-CN" sz="16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</a:tr>
              <a:tr h="3219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1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2.60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</a:tr>
              <a:tr h="3219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3.60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</a:tr>
              <a:tr h="3213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0.70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</a:tr>
              <a:tr h="3213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4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0.03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</a:tr>
              <a:tr h="3219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5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0.21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50" dirty="0"/>
              <a:t>5</a:t>
            </a:r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4400" y="3013075"/>
            <a:ext cx="488759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45" dirty="0"/>
              <a:t> </a:t>
            </a:r>
            <a:r>
              <a:rPr spc="-80" dirty="0"/>
              <a:t>You</a:t>
            </a:r>
            <a:endParaRPr spc="-8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40*173"/>
  <p:tag name="TABLE_ENDDRAG_RECT" val="72*299*240*173"/>
  <p:tag name="TABLE_AUTOADJUST_FLAG" val="1"/>
</p:tagLst>
</file>

<file path=ppt/tags/tag2.xml><?xml version="1.0" encoding="utf-8"?>
<p:tagLst xmlns:p="http://schemas.openxmlformats.org/presentationml/2006/main">
  <p:tag name="TABLE_ENDDRAG_ORIGIN_RECT" val="240*173"/>
  <p:tag name="TABLE_ENDDRAG_RECT" val="72*299*240*173"/>
  <p:tag name="TABLE_AUTOADJUST_FLAG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2377</Words>
  <Application>WPS 演示</Application>
  <PresentationFormat>Widescreen</PresentationFormat>
  <Paragraphs>147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1" baseType="lpstr">
      <vt:lpstr>Arial</vt:lpstr>
      <vt:lpstr>宋体</vt:lpstr>
      <vt:lpstr>Wingdings</vt:lpstr>
      <vt:lpstr>Calibri Light</vt:lpstr>
      <vt:lpstr>Helvetica Neue</vt:lpstr>
      <vt:lpstr>Calibri</vt:lpstr>
      <vt:lpstr>Arial MT</vt:lpstr>
      <vt:lpstr>Times New Roman</vt:lpstr>
      <vt:lpstr>微软雅黑</vt:lpstr>
      <vt:lpstr>汉仪旗黑</vt:lpstr>
      <vt:lpstr>宋体</vt:lpstr>
      <vt:lpstr>Arial Unicode MS</vt:lpstr>
      <vt:lpstr>汉仪书宋二KW</vt:lpstr>
      <vt:lpstr>PMingLiU</vt:lpstr>
      <vt:lpstr>宋体-繁</vt:lpstr>
      <vt:lpstr>Arial MT</vt:lpstr>
      <vt:lpstr>Times New Roman</vt:lpstr>
      <vt:lpstr>Calibri</vt:lpstr>
      <vt:lpstr>Wingdings</vt:lpstr>
      <vt:lpstr>微软雅黑</vt:lpstr>
      <vt:lpstr>Office Theme</vt:lpstr>
      <vt:lpstr>Big Data Mining (Spring 2025)</vt:lpstr>
      <vt:lpstr>Tabular Data</vt:lpstr>
      <vt:lpstr>More Details</vt:lpstr>
      <vt:lpstr>Link Prediction</vt:lpstr>
      <vt:lpstr>Dataset</vt:lpstr>
      <vt:lpstr>Dataset</vt:lpstr>
      <vt:lpstr>Evaluation</vt:lpstr>
      <vt:lpstr>Submission</vt:lpstr>
      <vt:lpstr>Grading Rule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高意森</cp:lastModifiedBy>
  <cp:revision>42</cp:revision>
  <dcterms:created xsi:type="dcterms:W3CDTF">2026-04-01T07:02:42Z</dcterms:created>
  <dcterms:modified xsi:type="dcterms:W3CDTF">2026-04-01T07:02:42Z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2024-04-10T08:00:00Z</vt:filetime>
  </property>
  <property fmtid="{D5CDD505-2E9C-101B-9397-08002B2CF9AE}" pid="3" name="LastSaved">
    <vt:filetime>2025-04-15T08:00:00Z</vt:filetime>
  </property>
  <property fmtid="{D5CDD505-2E9C-101B-9397-08002B2CF9AE}" pid="4" name="Producer">
    <vt:lpwstr>macOS Version 13.4.1 (Build 22F82) Quartz PDFContext</vt:lpwstr>
  </property>
  <property fmtid="{D5CDD505-2E9C-101B-9397-08002B2CF9AE}" pid="5" name="ICV">
    <vt:lpwstr>4E2C9CBFC40638CA9390CC692D9903AD_42</vt:lpwstr>
  </property>
  <property fmtid="{D5CDD505-2E9C-101B-9397-08002B2CF9AE}" pid="6" name="KSOProductBuildVer">
    <vt:lpwstr>2052-7.5.1.8994</vt:lpwstr>
  </property>
</Properties>
</file>